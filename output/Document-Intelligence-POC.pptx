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This deck covers one individual workstream (demo transcripts, .vtt input) inside the broader Document Intelligence Platform charter, not the full 11-member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general problem statement as written in the project charter. Right: the specific challenges called out for this workstream (demo transcripts). No numeric targets are shown here — the charter's headline percentages are placeholders and are intentionally omitted.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custom Claude Code skills, each defined with a Role-Task-Context-Constraints-Objective spec, chained together. Same four skills are reusable for every future demo transcript.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on this slide come directly from resources/M365CopilotDemoTranscript.json, produced by the transcript-normalizer skill from the raw .vtt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resources/M365CopilotDemoTranscript-review.json. Publication readiness assessed as READY TO PUBLISH, with a recommendation to tighten terminology consistency and step phrasing before external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*Style-guide review runs, but see the next slide on self-grading. Numbers reproduced from output/effort-accuracy-metrics.md, which is itself explicitly labeled 'estimated, not measured.'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no baseline human-writer run on this same transcript, so the AI path cannot be honestly claimed as more accurate — only that its errors here were minor (style/consistency, not factual) with a 0% critical-error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Three-part honest summary: effort, accuracy, and pipeline functionality.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items are derived directly from the limitations documented in output/effort-accuracy-metrics.md.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pointers to the full written article and the underlying repo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IN TECHNICAL WRITING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21792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Generator &amp; Automated Pre-Review — Demo Transcript Workstream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51206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“Raw demo transcript to publication-ready HTML — four skills, zero manual formatting.”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· Source: M365 Copilot Demo Transcript workstream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documentation work is repetitive, and demo transcripts add extra friction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7F7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CHARTER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Writers spend significant time converting scattered source content into documentation and running repetitive pre-review checks — style, formatting, terminology, readability — creating review bottlenecks and multiple revision cycles.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422392" cy="4206240"/>
          </a:xfrm>
          <a:prstGeom prst="roundRect">
            <a:avLst>
              <a:gd name="adj" fmla="val 1739"/>
            </a:avLst>
          </a:prstGeom>
          <a:solidFill>
            <a:srgbClr val="0B0E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DEMO TRANSCRIPTS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verbose transcripts with filler and tangents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ordered steps from spoken narration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on-screen UI actions to written instructions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A Four-Skill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has one job. The output of one is the exact input of the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4160520"/>
          </a:xfrm>
          <a:prstGeom prst="roundRect">
            <a:avLst>
              <a:gd name="adj" fmla="val 2878"/>
            </a:avLst>
          </a:prstGeom>
          <a:solidFill>
            <a:srgbClr val="F7F7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65960"/>
            <a:ext cx="457200" cy="45720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032" y="19842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6060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transcript-normalizer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3291840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timestamps, filler words, false starts &amp; side conversations from the raw .vtt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5193792"/>
            <a:ext cx="2139696" cy="438912"/>
          </a:xfrm>
          <a:prstGeom prst="roundRect">
            <a:avLst>
              <a:gd name="adj" fmla="val 50000"/>
            </a:avLst>
          </a:prstGeom>
          <a:solidFill>
            <a:srgbClr val="0B0E1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51937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0" y="34975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22A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83280" y="1691640"/>
            <a:ext cx="2542032" cy="4160520"/>
          </a:xfrm>
          <a:prstGeom prst="roundRect">
            <a:avLst>
              <a:gd name="adj" fmla="val 2878"/>
            </a:avLst>
          </a:prstGeom>
          <a:solidFill>
            <a:srgbClr val="F7F7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84448" y="1965960"/>
            <a:ext cx="457200" cy="45720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15" name="Text 12"/>
          <p:cNvSpPr/>
          <p:nvPr/>
        </p:nvSpPr>
        <p:spPr>
          <a:xfrm>
            <a:off x="35844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984248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84448" y="26060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documentation-author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584448" y="3291840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task-oriented Markdown guide: intro, prerequisites, steps, outcomes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3584448" y="5193792"/>
            <a:ext cx="2139696" cy="438912"/>
          </a:xfrm>
          <a:prstGeom prst="roundRect">
            <a:avLst>
              <a:gd name="adj" fmla="val 50000"/>
            </a:avLst>
          </a:prstGeom>
          <a:solidFill>
            <a:srgbClr val="0B0E1A"/>
          </a:solidFill>
          <a:ln/>
        </p:spPr>
      </p:sp>
      <p:sp>
        <p:nvSpPr>
          <p:cNvPr id="20" name="Text 16"/>
          <p:cNvSpPr/>
          <p:nvPr/>
        </p:nvSpPr>
        <p:spPr>
          <a:xfrm>
            <a:off x="3584448" y="51937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Markdown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943600" y="34975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22A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126480" y="1691640"/>
            <a:ext cx="2542032" cy="4160520"/>
          </a:xfrm>
          <a:prstGeom prst="roundRect">
            <a:avLst>
              <a:gd name="adj" fmla="val 2878"/>
            </a:avLst>
          </a:prstGeom>
          <a:solidFill>
            <a:srgbClr val="F7F7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27648" y="1965960"/>
            <a:ext cx="457200" cy="45720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24" name="Text 20"/>
          <p:cNvSpPr/>
          <p:nvPr/>
        </p:nvSpPr>
        <p:spPr>
          <a:xfrm>
            <a:off x="63276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984248"/>
            <a:ext cx="420624" cy="4206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27648" y="26060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documentation-reviewer</a:t>
            </a:r>
            <a:endParaRPr lang="en-US" sz="1550" dirty="0"/>
          </a:p>
        </p:txBody>
      </p:sp>
      <p:sp>
        <p:nvSpPr>
          <p:cNvPr id="27" name="Text 22"/>
          <p:cNvSpPr/>
          <p:nvPr/>
        </p:nvSpPr>
        <p:spPr>
          <a:xfrm>
            <a:off x="6327648" y="3291840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draft against 8 writing standards + Microsoft style guide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6327648" y="5193792"/>
            <a:ext cx="2139696" cy="438912"/>
          </a:xfrm>
          <a:prstGeom prst="roundRect">
            <a:avLst>
              <a:gd name="adj" fmla="val 50000"/>
            </a:avLst>
          </a:prstGeom>
          <a:solidFill>
            <a:srgbClr val="0B0E1A"/>
          </a:solidFill>
          <a:ln/>
        </p:spPr>
      </p:sp>
      <p:sp>
        <p:nvSpPr>
          <p:cNvPr id="29" name="Text 24"/>
          <p:cNvSpPr/>
          <p:nvPr/>
        </p:nvSpPr>
        <p:spPr>
          <a:xfrm>
            <a:off x="6327648" y="51937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score + findings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686800" y="34975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22A"/>
                </a:solidFill>
              </a:rPr>
              <a:t>→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8869680" y="1691640"/>
            <a:ext cx="2542032" cy="4160520"/>
          </a:xfrm>
          <a:prstGeom prst="roundRect">
            <a:avLst>
              <a:gd name="adj" fmla="val 2878"/>
            </a:avLst>
          </a:prstGeom>
          <a:solidFill>
            <a:srgbClr val="F7F7F9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070848" y="1965960"/>
            <a:ext cx="457200" cy="457200"/>
          </a:xfrm>
          <a:prstGeom prst="ellipse">
            <a:avLst/>
          </a:prstGeom>
          <a:solidFill>
            <a:srgbClr val="0B0E1A"/>
          </a:solidFill>
          <a:ln/>
        </p:spPr>
      </p:sp>
      <p:sp>
        <p:nvSpPr>
          <p:cNvPr id="33" name="Text 28"/>
          <p:cNvSpPr/>
          <p:nvPr/>
        </p:nvSpPr>
        <p:spPr>
          <a:xfrm>
            <a:off x="907084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632" y="1984248"/>
            <a:ext cx="420624" cy="42062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070848" y="260604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documentation-finalizer</a:t>
            </a:r>
            <a:endParaRPr lang="en-US" sz="1550" dirty="0"/>
          </a:p>
        </p:txBody>
      </p:sp>
      <p:sp>
        <p:nvSpPr>
          <p:cNvPr id="36" name="Text 30"/>
          <p:cNvSpPr/>
          <p:nvPr/>
        </p:nvSpPr>
        <p:spPr>
          <a:xfrm>
            <a:off x="9070848" y="3291840"/>
            <a:ext cx="21396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reviewed Markdown into a clean, single-column HTML page</a:t>
            </a:r>
            <a:endParaRPr lang="en-US" sz="1250" dirty="0"/>
          </a:p>
        </p:txBody>
      </p:sp>
      <p:sp>
        <p:nvSpPr>
          <p:cNvPr id="37" name="Shape 31"/>
          <p:cNvSpPr/>
          <p:nvPr/>
        </p:nvSpPr>
        <p:spPr>
          <a:xfrm>
            <a:off x="9070848" y="5193792"/>
            <a:ext cx="2139696" cy="438912"/>
          </a:xfrm>
          <a:prstGeom prst="roundRect">
            <a:avLst>
              <a:gd name="adj" fmla="val 50000"/>
            </a:avLst>
          </a:prstGeom>
          <a:solidFill>
            <a:srgbClr val="0B0E1A"/>
          </a:solidFill>
          <a:ln/>
        </p:spPr>
      </p:sp>
      <p:sp>
        <p:nvSpPr>
          <p:cNvPr id="38" name="Text 32"/>
          <p:cNvSpPr/>
          <p:nvPr/>
        </p:nvSpPr>
        <p:spPr>
          <a:xfrm>
            <a:off x="9070848" y="5193792"/>
            <a:ext cx="2139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HTML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of Concept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end-to-end against a real artifact: M365CopilotDemoTranscript.vtt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417320"/>
          </a:xfrm>
          <a:prstGeom prst="roundRect">
            <a:avLst>
              <a:gd name="adj" fmla="val 5161"/>
            </a:avLst>
          </a:prstGeom>
          <a:solidFill>
            <a:srgbClr val="141A2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Basic HTML with Microsoft 365 Copilot Chat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Use Copilot Chat to learn HTML basics, generate a working page example, and understand individual HTML elements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A2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extracted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01568" y="34290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A2C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356616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401568" y="43434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steps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63056" y="34290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A2C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356616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63056" y="43434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24544" y="342900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141A2C"/>
          </a:solidFill>
          <a:ln/>
        </p:spPr>
      </p:sp>
      <p:sp>
        <p:nvSpPr>
          <p:cNvPr id="18" name="Text 16"/>
          <p:cNvSpPr/>
          <p:nvPr/>
        </p:nvSpPr>
        <p:spPr>
          <a:xfrm>
            <a:off x="8924544" y="3566160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924544" y="434340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facts captured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Prerequisites: Access to Microsoft 365 Copilot Chat  ·  Basic familiarity with chat interfaces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(1) Ask what HTML is  (2) Request a simple example  (3) Explore h1 / h2 elements  (4) Continue with follow-up questions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against 8 professional writing standards by the documentation-reviewer skill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017520" cy="4297680"/>
          </a:xfrm>
          <a:prstGeom prst="roundRect">
            <a:avLst>
              <a:gd name="adj" fmla="val 2424"/>
            </a:avLst>
          </a:prstGeom>
          <a:solidFill>
            <a:srgbClr val="0B0E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703320"/>
            <a:ext cx="2286000" cy="0"/>
          </a:xfrm>
          <a:prstGeom prst="line">
            <a:avLst/>
          </a:prstGeom>
          <a:noFill/>
          <a:ln w="12700">
            <a:solidFill>
              <a:srgbClr val="2A3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886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39410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07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4562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findings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12978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5184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findings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86200" y="1600200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7F7F9"/>
          </a:solidFill>
          <a:ln/>
        </p:spPr>
      </p:sp>
      <p:sp>
        <p:nvSpPr>
          <p:cNvPr id="16" name="Text 14"/>
          <p:cNvSpPr/>
          <p:nvPr/>
        </p:nvSpPr>
        <p:spPr>
          <a:xfrm>
            <a:off x="3886200" y="180136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977640" y="25146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3227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24728" y="1600200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7F7F9"/>
          </a:solidFill>
          <a:ln/>
        </p:spPr>
      </p:sp>
      <p:sp>
        <p:nvSpPr>
          <p:cNvPr id="20" name="Text 18"/>
          <p:cNvSpPr/>
          <p:nvPr/>
        </p:nvSpPr>
        <p:spPr>
          <a:xfrm>
            <a:off x="5824728" y="180136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916168" y="25146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Conciseness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16168" y="3227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63256" y="1600200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7F7F9"/>
          </a:solidFill>
          <a:ln/>
        </p:spPr>
      </p:sp>
      <p:sp>
        <p:nvSpPr>
          <p:cNvPr id="24" name="Text 22"/>
          <p:cNvSpPr/>
          <p:nvPr/>
        </p:nvSpPr>
        <p:spPr>
          <a:xfrm>
            <a:off x="7763256" y="180136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854696" y="25146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voice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854696" y="3227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701784" y="1600200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7F7F9"/>
          </a:solidFill>
          <a:ln/>
        </p:spPr>
      </p:sp>
      <p:sp>
        <p:nvSpPr>
          <p:cNvPr id="28" name="Text 26"/>
          <p:cNvSpPr/>
          <p:nvPr/>
        </p:nvSpPr>
        <p:spPr>
          <a:xfrm>
            <a:off x="9701784" y="1801368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793224" y="251460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793224" y="322783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86200" y="3739896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7F7F9"/>
          </a:solidFill>
          <a:ln/>
        </p:spPr>
      </p:sp>
      <p:sp>
        <p:nvSpPr>
          <p:cNvPr id="32" name="Text 30"/>
          <p:cNvSpPr/>
          <p:nvPr/>
        </p:nvSpPr>
        <p:spPr>
          <a:xfrm>
            <a:off x="3886200" y="3941064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3977640" y="4654296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hierarchy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977640" y="53675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24728" y="3739896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7F7F9"/>
          </a:solidFill>
          <a:ln/>
        </p:spPr>
      </p:sp>
      <p:sp>
        <p:nvSpPr>
          <p:cNvPr id="36" name="Text 34"/>
          <p:cNvSpPr/>
          <p:nvPr/>
        </p:nvSpPr>
        <p:spPr>
          <a:xfrm>
            <a:off x="5824728" y="3941064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916168" y="4654296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orientation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916168" y="53675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763256" y="3739896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DECE8"/>
          </a:solidFill>
          <a:ln/>
        </p:spPr>
      </p:sp>
      <p:sp>
        <p:nvSpPr>
          <p:cNvPr id="40" name="Text 38"/>
          <p:cNvSpPr/>
          <p:nvPr/>
        </p:nvSpPr>
        <p:spPr>
          <a:xfrm>
            <a:off x="7763256" y="3941064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7854696" y="4654296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consistency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854696" y="53675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701784" y="3739896"/>
            <a:ext cx="1810512" cy="2011680"/>
          </a:xfrm>
          <a:prstGeom prst="roundRect">
            <a:avLst>
              <a:gd name="adj" fmla="val 3535"/>
            </a:avLst>
          </a:prstGeom>
          <a:solidFill>
            <a:srgbClr val="F7F7F9"/>
          </a:solidFill>
          <a:ln/>
        </p:spPr>
      </p:sp>
      <p:sp>
        <p:nvSpPr>
          <p:cNvPr id="44" name="Text 42"/>
          <p:cNvSpPr/>
          <p:nvPr/>
        </p:nvSpPr>
        <p:spPr>
          <a:xfrm>
            <a:off x="9701784" y="3941064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9793224" y="4654296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compliance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793224" y="53675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7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&amp; Time — Estimated, Not Measured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instrumented timer, no human baseline on this transcript, n = 1. These are reasoned estimates.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315200" cy="329184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(typical)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AI-skill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Watch/re-listen, take notes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(parses text directly)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into goal/prereqs/tasks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~instant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Markdown prose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~instant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Style-guide review 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~instant*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Hand-build/style HTML page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20–90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~instant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oversight (review outputs)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~5–10 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1600200"/>
            <a:ext cx="7315200" cy="457200"/>
          </a:xfrm>
          <a:prstGeom prst="rect">
            <a:avLst/>
          </a:prstGeom>
          <a:solidFill>
            <a:srgbClr val="0B0E1A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1600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05072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(typical)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16752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AI-skill pipeline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502920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FDECE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292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 human time:  </a:t>
            </a:r>
            <a:pPr indent="0" marL="0">
              <a:buNone/>
            </a:pPr>
            <a:r>
              <a:rPr lang="en-US" sz="1500" b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~75–170 min   vs   AI ~5–10 min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0" y="1600200"/>
            <a:ext cx="3319272" cy="4297680"/>
          </a:xfrm>
          <a:prstGeom prst="roundRect">
            <a:avLst>
              <a:gd name="adj" fmla="val 2204"/>
            </a:avLst>
          </a:prstGeom>
          <a:solidFill>
            <a:srgbClr val="0B0E1A"/>
          </a:solidFill>
          <a:ln/>
        </p:spPr>
      </p:sp>
      <p:sp>
        <p:nvSpPr>
          <p:cNvPr id="12" name="Text 9"/>
          <p:cNvSpPr/>
          <p:nvPr/>
        </p:nvSpPr>
        <p:spPr>
          <a:xfrm>
            <a:off x="8458200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FINE PRINT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58200" y="214884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1: one small, single-topic transcript (77 lines, 4 tasks)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45-min multi-feature demo would look different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HTML template shrinks the manual-side gap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 of building the 4 skills isn't counted here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“88.1/100” Doesn't Tell You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limitations surfaced by this proof of concept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41A2C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SELF-GRADING BIAS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authored, reviewed, and finalized the document. This is self-consistency checking, not independent QA — a systematic habit in the authoring skill is likely to be shared, not caught, by the reviewing skill.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41605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88.1/100 means “survived a self-consistency check,” not “88% accurate against ground truth.”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76672" cy="4206240"/>
          </a:xfrm>
          <a:prstGeom prst="roundRect">
            <a:avLst>
              <a:gd name="adj" fmla="val 1739"/>
            </a:avLst>
          </a:prstGeom>
          <a:solidFill>
            <a:srgbClr val="141A2C"/>
          </a:solidFill>
          <a:ln/>
        </p:spPr>
      </p:sp>
      <p:sp>
        <p:nvSpPr>
          <p:cNvPr id="10" name="Text 7"/>
          <p:cNvSpPr/>
          <p:nvPr/>
        </p:nvSpPr>
        <p:spPr>
          <a:xfrm>
            <a:off x="6446520" y="1920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ORDERING GAP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finalizer stage added two lines to the published HTML that were never reviewed, because review runs before finalize: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6520" y="31089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“Time: ~10 minutes” — a fully invented estimate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“Audience: Anyone new to HTML” — an unsourced inference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46520" y="4434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live today in output/M365CopilotDemoTranscript.html — a defect in pipeline ordering, not in any single skill.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0B0E1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482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1907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savings are real — for this artifact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20240" y="217627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less active time is a plausible order of magnitude on this one small document, not a validated benchmark.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383280"/>
            <a:ext cx="731520" cy="731520"/>
          </a:xfrm>
          <a:prstGeom prst="ellipse">
            <a:avLst/>
          </a:prstGeom>
          <a:solidFill>
            <a:srgbClr val="0B0E1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5570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22783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can't be quoted as one number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920240" y="368503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88.1/100 is a real, measured self-consistency score — but it overstates confidence since the same system graded its own work.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57200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F7F7F9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892040"/>
            <a:ext cx="731520" cy="731520"/>
          </a:xfrm>
          <a:prstGeom prst="ellipse">
            <a:avLst/>
          </a:prstGeom>
          <a:solidFill>
            <a:srgbClr val="0B0E1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50657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7365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works, end to end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20240" y="519379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critical defects on a real artifact, with four reusable, versioned skills ready for the next transcript.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gaps this proof of concept surfaced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91540" y="2423160"/>
            <a:ext cx="0" cy="45720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18288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instrumented timer to replace estimated effort numbers with measured ones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91540" y="3474720"/>
            <a:ext cx="0" cy="45720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288036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independent review pass (different model or a human) to validate the QA score isn't just self-consistency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91540" y="4526280"/>
            <a:ext cx="0" cy="45720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71600" y="393192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pipeline ordering so finalizer-added content (time estimates, audience inferences) is reviewed too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40080" y="5029200"/>
            <a:ext cx="502920" cy="502920"/>
          </a:xfrm>
          <a:prstGeom prst="ellipse">
            <a:avLst/>
          </a:prstGeom>
          <a:solidFill>
            <a:srgbClr val="F4622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91540" y="5577840"/>
            <a:ext cx="0" cy="45720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71600" y="49834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C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same four-skill pipeline against a larger, multi-feature demo transcript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Platform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Transcript Workstream — Proof of Concept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25400">
            <a:solidFill>
              <a:srgbClr val="F46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5661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“Raw demo transcript to publication-ready HTML — four skills, zero manual formatting.”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8463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 transcript-normalizer · documentation-author · documentation-reviewer · documentation-finalizer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Artifact:  M365CopilotDemoTranscript.vtt → output/M365CopilotDemoTranscript.html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analysis:  output/document-intelligence-poc-article.md · output/effort-accuracy-metrics.md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Intelligence: Draft Generator &amp; Automated Pre-Review</dc:title>
  <dc:subject>PptxGenJS Presentation</dc:subject>
  <dc:creator>Document Intelligence Platform</dc:creator>
  <cp:lastModifiedBy>Document Intelligence Platform</cp:lastModifiedBy>
  <cp:revision>1</cp:revision>
  <dcterms:created xsi:type="dcterms:W3CDTF">2026-07-06T13:59:43Z</dcterms:created>
  <dcterms:modified xsi:type="dcterms:W3CDTF">2026-07-06T13:59:43Z</dcterms:modified>
</cp:coreProperties>
</file>